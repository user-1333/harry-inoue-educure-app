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8" r:id="rId3"/>
    <p:sldId id="257"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60904" autoAdjust="0"/>
  </p:normalViewPr>
  <p:slideViewPr>
    <p:cSldViewPr snapToGrid="0">
      <p:cViewPr varScale="1">
        <p:scale>
          <a:sx n="66" d="100"/>
          <a:sy n="66" d="100"/>
        </p:scale>
        <p:origin x="1522" y="41"/>
      </p:cViewPr>
      <p:guideLst/>
    </p:cSldViewPr>
  </p:slideViewPr>
  <p:notesTextViewPr>
    <p:cViewPr>
      <p:scale>
        <a:sx n="3" d="2"/>
        <a:sy n="3" d="2"/>
      </p:scale>
      <p:origin x="0" y="-929"/>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126FBE-CD16-4B2B-8546-3F83AD0AD9E8}" type="datetimeFigureOut">
              <a:rPr kumimoji="1" lang="ja-JP" altLang="en-US" smtClean="0"/>
              <a:t>2026/3/29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00401E-E7AE-4E7C-9FCE-35E8B987B59D}" type="slidenum">
              <a:rPr kumimoji="1" lang="ja-JP" altLang="en-US" smtClean="0"/>
              <a:t>‹#›</a:t>
            </a:fld>
            <a:endParaRPr kumimoji="1" lang="ja-JP" altLang="en-US"/>
          </a:p>
        </p:txBody>
      </p:sp>
    </p:spTree>
    <p:extLst>
      <p:ext uri="{BB962C8B-B14F-4D97-AF65-F5344CB8AC3E}">
        <p14:creationId xmlns:p14="http://schemas.microsoft.com/office/powerpoint/2010/main" val="19752961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en-US" altLang="ja-JP" sz="1200" kern="1200" dirty="0">
                <a:solidFill>
                  <a:schemeClr val="tx1"/>
                </a:solidFill>
                <a:effectLst/>
                <a:latin typeface="+mn-lt"/>
                <a:ea typeface="+mn-ea"/>
                <a:cs typeface="+mn-cs"/>
              </a:rPr>
              <a:t>**</a:t>
            </a:r>
            <a:r>
              <a:rPr kumimoji="1" lang="ja-JP" altLang="en-US" sz="1200" kern="1200" dirty="0">
                <a:solidFill>
                  <a:schemeClr val="tx1"/>
                </a:solidFill>
                <a:effectLst/>
                <a:latin typeface="+mn-lt"/>
                <a:ea typeface="+mn-ea"/>
                <a:cs typeface="+mn-cs"/>
              </a:rPr>
              <a:t>勤怠と休暇を</a:t>
            </a:r>
            <a:r>
              <a:rPr kumimoji="1" lang="en-US" altLang="ja-JP" sz="1200" kern="1200" dirty="0">
                <a:solidFill>
                  <a:schemeClr val="tx1"/>
                </a:solidFill>
                <a:effectLst/>
                <a:latin typeface="+mn-lt"/>
                <a:ea typeface="+mn-ea"/>
                <a:cs typeface="+mn-cs"/>
              </a:rPr>
              <a:t>1</a:t>
            </a:r>
            <a:r>
              <a:rPr kumimoji="1" lang="ja-JP" altLang="en-US" sz="1200" kern="1200" dirty="0">
                <a:solidFill>
                  <a:schemeClr val="tx1"/>
                </a:solidFill>
                <a:effectLst/>
                <a:latin typeface="+mn-lt"/>
                <a:ea typeface="+mn-ea"/>
                <a:cs typeface="+mn-cs"/>
              </a:rPr>
              <a:t>つのシステムでまとめて扱える**</a:t>
            </a:r>
            <a:br>
              <a:rPr kumimoji="1" lang="ja-JP" altLang="en-US" sz="1200" kern="1200" dirty="0">
                <a:solidFill>
                  <a:schemeClr val="tx1"/>
                </a:solidFill>
                <a:effectLst/>
                <a:latin typeface="+mn-lt"/>
                <a:ea typeface="+mn-ea"/>
                <a:cs typeface="+mn-cs"/>
              </a:rPr>
            </a:br>
            <a:r>
              <a:rPr kumimoji="1" lang="ja-JP" altLang="en-US" sz="1200" kern="1200" dirty="0">
                <a:solidFill>
                  <a:schemeClr val="tx1"/>
                </a:solidFill>
                <a:effectLst/>
                <a:latin typeface="+mn-lt"/>
                <a:ea typeface="+mn-ea"/>
                <a:cs typeface="+mn-cs"/>
              </a:rPr>
              <a:t>  </a:t>
            </a:r>
            <a:r>
              <a:rPr kumimoji="1" lang="en-US" altLang="ja-JP" sz="1200" kern="1200" dirty="0">
                <a:solidFill>
                  <a:schemeClr val="tx1"/>
                </a:solidFill>
                <a:effectLst/>
                <a:latin typeface="+mn-lt"/>
                <a:ea typeface="+mn-ea"/>
                <a:cs typeface="+mn-cs"/>
              </a:rPr>
              <a:t>- </a:t>
            </a:r>
            <a:r>
              <a:rPr kumimoji="1" lang="ja-JP" altLang="en-US" sz="1200" kern="1200" dirty="0">
                <a:solidFill>
                  <a:schemeClr val="tx1"/>
                </a:solidFill>
                <a:effectLst/>
                <a:latin typeface="+mn-lt"/>
                <a:ea typeface="+mn-ea"/>
                <a:cs typeface="+mn-cs"/>
              </a:rPr>
              <a:t>出退勤記録、勤怠一覧、休暇申請、休暇承認までを同一の</a:t>
            </a:r>
            <a:r>
              <a:rPr kumimoji="1" lang="en-US" altLang="ja-JP" sz="1200" kern="1200" dirty="0">
                <a:solidFill>
                  <a:schemeClr val="tx1"/>
                </a:solidFill>
                <a:effectLst/>
                <a:latin typeface="+mn-lt"/>
                <a:ea typeface="+mn-ea"/>
                <a:cs typeface="+mn-cs"/>
              </a:rPr>
              <a:t>Web</a:t>
            </a:r>
            <a:r>
              <a:rPr kumimoji="1" lang="ja-JP" altLang="en-US" sz="1200" kern="1200" dirty="0">
                <a:solidFill>
                  <a:schemeClr val="tx1"/>
                </a:solidFill>
                <a:effectLst/>
                <a:latin typeface="+mn-lt"/>
                <a:ea typeface="+mn-ea"/>
                <a:cs typeface="+mn-cs"/>
              </a:rPr>
              <a:t>システム内で扱える構成になっている</a:t>
            </a:r>
            <a:br>
              <a:rPr kumimoji="1" lang="ja-JP" altLang="en-US" sz="1200" kern="1200" dirty="0">
                <a:solidFill>
                  <a:schemeClr val="tx1"/>
                </a:solidFill>
                <a:effectLst/>
                <a:latin typeface="+mn-lt"/>
                <a:ea typeface="+mn-ea"/>
                <a:cs typeface="+mn-cs"/>
              </a:rPr>
            </a:br>
            <a:r>
              <a:rPr kumimoji="1" lang="en-US" altLang="ja-JP" sz="1200" kern="1200" dirty="0">
                <a:solidFill>
                  <a:schemeClr val="tx1"/>
                </a:solidFill>
                <a:effectLst/>
                <a:latin typeface="+mn-lt"/>
                <a:ea typeface="+mn-ea"/>
                <a:cs typeface="+mn-cs"/>
              </a:rPr>
              <a:t>- **</a:t>
            </a:r>
            <a:r>
              <a:rPr kumimoji="1" lang="ja-JP" altLang="en-US" sz="1200" kern="1200" dirty="0">
                <a:solidFill>
                  <a:schemeClr val="tx1"/>
                </a:solidFill>
                <a:effectLst/>
                <a:latin typeface="+mn-lt"/>
                <a:ea typeface="+mn-ea"/>
                <a:cs typeface="+mn-cs"/>
              </a:rPr>
              <a:t>認証付きで、利用者ごとに必要な機能を出し分けられる**</a:t>
            </a:r>
            <a:br>
              <a:rPr kumimoji="1" lang="ja-JP" altLang="en-US" sz="1200" kern="1200" dirty="0">
                <a:solidFill>
                  <a:schemeClr val="tx1"/>
                </a:solidFill>
                <a:effectLst/>
                <a:latin typeface="+mn-lt"/>
                <a:ea typeface="+mn-ea"/>
                <a:cs typeface="+mn-cs"/>
              </a:rPr>
            </a:br>
            <a:r>
              <a:rPr kumimoji="1" lang="ja-JP" altLang="en-US" sz="1200" kern="1200" dirty="0">
                <a:solidFill>
                  <a:schemeClr val="tx1"/>
                </a:solidFill>
                <a:effectLst/>
                <a:latin typeface="+mn-lt"/>
                <a:ea typeface="+mn-ea"/>
                <a:cs typeface="+mn-cs"/>
              </a:rPr>
              <a:t>  </a:t>
            </a:r>
            <a:r>
              <a:rPr kumimoji="1" lang="en-US" altLang="ja-JP" sz="1200" kern="1200" dirty="0">
                <a:solidFill>
                  <a:schemeClr val="tx1"/>
                </a:solidFill>
                <a:effectLst/>
                <a:latin typeface="+mn-lt"/>
                <a:ea typeface="+mn-ea"/>
                <a:cs typeface="+mn-cs"/>
              </a:rPr>
              <a:t>- JWT</a:t>
            </a:r>
            <a:r>
              <a:rPr kumimoji="1" lang="ja-JP" altLang="en-US" sz="1200" kern="1200" dirty="0">
                <a:solidFill>
                  <a:schemeClr val="tx1"/>
                </a:solidFill>
                <a:effectLst/>
                <a:latin typeface="+mn-lt"/>
                <a:ea typeface="+mn-ea"/>
                <a:cs typeface="+mn-cs"/>
              </a:rPr>
              <a:t>認証とロール別メニューにより、一般従業員と管理者で使う機能を分けやすい設計になっている</a:t>
            </a:r>
            <a:br>
              <a:rPr kumimoji="1" lang="ja-JP" altLang="en-US" sz="1200" kern="1200" dirty="0">
                <a:solidFill>
                  <a:schemeClr val="tx1"/>
                </a:solidFill>
                <a:effectLst/>
                <a:latin typeface="+mn-lt"/>
                <a:ea typeface="+mn-ea"/>
                <a:cs typeface="+mn-cs"/>
              </a:rPr>
            </a:br>
            <a:r>
              <a:rPr kumimoji="1" lang="en-US" altLang="ja-JP" sz="1200" kern="1200" dirty="0">
                <a:solidFill>
                  <a:schemeClr val="tx1"/>
                </a:solidFill>
                <a:effectLst/>
                <a:latin typeface="+mn-lt"/>
                <a:ea typeface="+mn-ea"/>
                <a:cs typeface="+mn-cs"/>
              </a:rPr>
              <a:t>- **</a:t>
            </a:r>
            <a:r>
              <a:rPr kumimoji="1" lang="ja-JP" altLang="en-US" sz="1200" kern="1200" dirty="0">
                <a:solidFill>
                  <a:schemeClr val="tx1"/>
                </a:solidFill>
                <a:effectLst/>
                <a:latin typeface="+mn-lt"/>
                <a:ea typeface="+mn-ea"/>
                <a:cs typeface="+mn-cs"/>
              </a:rPr>
              <a:t>申請から承認までの流れをつなげやすい**</a:t>
            </a:r>
            <a:br>
              <a:rPr kumimoji="1" lang="ja-JP" altLang="en-US" sz="1200" kern="1200" dirty="0">
                <a:solidFill>
                  <a:schemeClr val="tx1"/>
                </a:solidFill>
                <a:effectLst/>
                <a:latin typeface="+mn-lt"/>
                <a:ea typeface="+mn-ea"/>
                <a:cs typeface="+mn-cs"/>
              </a:rPr>
            </a:br>
            <a:r>
              <a:rPr kumimoji="1" lang="ja-JP" altLang="en-US" sz="1200" kern="1200" dirty="0">
                <a:solidFill>
                  <a:schemeClr val="tx1"/>
                </a:solidFill>
                <a:effectLst/>
                <a:latin typeface="+mn-lt"/>
                <a:ea typeface="+mn-ea"/>
                <a:cs typeface="+mn-cs"/>
              </a:rPr>
              <a:t>  </a:t>
            </a:r>
            <a:r>
              <a:rPr kumimoji="1" lang="en-US" altLang="ja-JP" sz="1200" kern="1200" dirty="0">
                <a:solidFill>
                  <a:schemeClr val="tx1"/>
                </a:solidFill>
                <a:effectLst/>
                <a:latin typeface="+mn-lt"/>
                <a:ea typeface="+mn-ea"/>
                <a:cs typeface="+mn-cs"/>
              </a:rPr>
              <a:t>- </a:t>
            </a:r>
            <a:r>
              <a:rPr kumimoji="1" lang="ja-JP" altLang="en-US" sz="1200" kern="1200" dirty="0">
                <a:solidFill>
                  <a:schemeClr val="tx1"/>
                </a:solidFill>
                <a:effectLst/>
                <a:latin typeface="+mn-lt"/>
                <a:ea typeface="+mn-ea"/>
                <a:cs typeface="+mn-cs"/>
              </a:rPr>
              <a:t>休暇申請画面、申請一覧、承認一覧、承認</a:t>
            </a:r>
            <a:r>
              <a:rPr kumimoji="1" lang="en-US" altLang="ja-JP" sz="1200" kern="1200" dirty="0">
                <a:solidFill>
                  <a:schemeClr val="tx1"/>
                </a:solidFill>
                <a:effectLst/>
                <a:latin typeface="+mn-lt"/>
                <a:ea typeface="+mn-ea"/>
                <a:cs typeface="+mn-cs"/>
              </a:rPr>
              <a:t>API</a:t>
            </a:r>
            <a:r>
              <a:rPr kumimoji="1" lang="ja-JP" altLang="en-US" sz="1200" kern="1200" dirty="0">
                <a:solidFill>
                  <a:schemeClr val="tx1"/>
                </a:solidFill>
                <a:effectLst/>
                <a:latin typeface="+mn-lt"/>
                <a:ea typeface="+mn-ea"/>
                <a:cs typeface="+mn-cs"/>
              </a:rPr>
              <a:t>がそろっており、業務フローとしてまとまりがある</a:t>
            </a:r>
            <a:br>
              <a:rPr kumimoji="1" lang="ja-JP" altLang="en-US" sz="1200" kern="1200" dirty="0">
                <a:solidFill>
                  <a:schemeClr val="tx1"/>
                </a:solidFill>
                <a:effectLst/>
                <a:latin typeface="+mn-lt"/>
                <a:ea typeface="+mn-ea"/>
                <a:cs typeface="+mn-cs"/>
              </a:rPr>
            </a:br>
            <a:r>
              <a:rPr kumimoji="1" lang="en-US" altLang="ja-JP" sz="1200" kern="1200" dirty="0">
                <a:solidFill>
                  <a:schemeClr val="tx1"/>
                </a:solidFill>
                <a:effectLst/>
                <a:latin typeface="+mn-lt"/>
                <a:ea typeface="+mn-ea"/>
                <a:cs typeface="+mn-cs"/>
              </a:rPr>
              <a:t>- **</a:t>
            </a:r>
            <a:r>
              <a:rPr kumimoji="1" lang="ja-JP" altLang="en-US" sz="1200" kern="1200" dirty="0">
                <a:solidFill>
                  <a:schemeClr val="tx1"/>
                </a:solidFill>
                <a:effectLst/>
                <a:latin typeface="+mn-lt"/>
                <a:ea typeface="+mn-ea"/>
                <a:cs typeface="+mn-cs"/>
              </a:rPr>
              <a:t>将来的な機能追加に広げやすい土台がある**</a:t>
            </a:r>
            <a:br>
              <a:rPr kumimoji="1" lang="ja-JP" altLang="en-US" sz="1200" kern="1200" dirty="0">
                <a:solidFill>
                  <a:schemeClr val="tx1"/>
                </a:solidFill>
                <a:effectLst/>
                <a:latin typeface="+mn-lt"/>
                <a:ea typeface="+mn-ea"/>
                <a:cs typeface="+mn-cs"/>
              </a:rPr>
            </a:br>
            <a:r>
              <a:rPr kumimoji="1" lang="ja-JP" altLang="en-US" sz="1200" kern="1200" dirty="0">
                <a:solidFill>
                  <a:schemeClr val="tx1"/>
                </a:solidFill>
                <a:effectLst/>
                <a:latin typeface="+mn-lt"/>
                <a:ea typeface="+mn-ea"/>
                <a:cs typeface="+mn-cs"/>
              </a:rPr>
              <a:t>  </a:t>
            </a:r>
            <a:r>
              <a:rPr kumimoji="1" lang="en-US" altLang="ja-JP" sz="1200" kern="1200" dirty="0">
                <a:solidFill>
                  <a:schemeClr val="tx1"/>
                </a:solidFill>
                <a:effectLst/>
                <a:latin typeface="+mn-lt"/>
                <a:ea typeface="+mn-ea"/>
                <a:cs typeface="+mn-cs"/>
              </a:rPr>
              <a:t>- front / back </a:t>
            </a:r>
            <a:r>
              <a:rPr kumimoji="1" lang="ja-JP" altLang="en-US" sz="1200" kern="1200" dirty="0">
                <a:solidFill>
                  <a:schemeClr val="tx1"/>
                </a:solidFill>
                <a:effectLst/>
                <a:latin typeface="+mn-lt"/>
                <a:ea typeface="+mn-ea"/>
                <a:cs typeface="+mn-cs"/>
              </a:rPr>
              <a:t>の責務分割、共通</a:t>
            </a:r>
            <a:r>
              <a:rPr kumimoji="1" lang="en-US" altLang="ja-JP" sz="1200" kern="1200" dirty="0">
                <a:solidFill>
                  <a:schemeClr val="tx1"/>
                </a:solidFill>
                <a:effectLst/>
                <a:latin typeface="+mn-lt"/>
                <a:ea typeface="+mn-ea"/>
                <a:cs typeface="+mn-cs"/>
              </a:rPr>
              <a:t>API</a:t>
            </a:r>
            <a:r>
              <a:rPr kumimoji="1" lang="ja-JP" altLang="en-US" sz="1200" kern="1200" dirty="0">
                <a:solidFill>
                  <a:schemeClr val="tx1"/>
                </a:solidFill>
                <a:effectLst/>
                <a:latin typeface="+mn-lt"/>
                <a:ea typeface="+mn-ea"/>
                <a:cs typeface="+mn-cs"/>
              </a:rPr>
              <a:t>処理、ロール階層の仕組みがあり、拡張の入口を作りやすい</a:t>
            </a:r>
            <a:endParaRPr kumimoji="1" lang="en-US" altLang="ja-JP" sz="1200" kern="1200" dirty="0">
              <a:solidFill>
                <a:schemeClr val="tx1"/>
              </a:solidFill>
              <a:effectLst/>
              <a:latin typeface="+mn-lt"/>
              <a:ea typeface="+mn-ea"/>
              <a:cs typeface="+mn-cs"/>
            </a:endParaRPr>
          </a:p>
          <a:p>
            <a:pPr marL="171450" indent="-171450">
              <a:buFontTx/>
              <a:buChar char="-"/>
            </a:pPr>
            <a:endParaRPr kumimoji="1" lang="ja-JP" alt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E300401E-E7AE-4E7C-9FCE-35E8B987B59D}" type="slidenum">
              <a:rPr kumimoji="1" lang="ja-JP" altLang="en-US" smtClean="0"/>
              <a:t>4</a:t>
            </a:fld>
            <a:endParaRPr kumimoji="1" lang="ja-JP" altLang="en-US"/>
          </a:p>
        </p:txBody>
      </p:sp>
    </p:spTree>
    <p:extLst>
      <p:ext uri="{BB962C8B-B14F-4D97-AF65-F5344CB8AC3E}">
        <p14:creationId xmlns:p14="http://schemas.microsoft.com/office/powerpoint/2010/main" val="4294638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色々話してきましたが、この勤怠管理システムは基本的なことしか出来ません。ですが、拡張性といった面で言えばどこにも負けてないと思います。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E300401E-E7AE-4E7C-9FCE-35E8B987B59D}" type="slidenum">
              <a:rPr kumimoji="1" lang="ja-JP" altLang="en-US" smtClean="0"/>
              <a:t>5</a:t>
            </a:fld>
            <a:endParaRPr kumimoji="1" lang="ja-JP" altLang="en-US"/>
          </a:p>
        </p:txBody>
      </p:sp>
    </p:spTree>
    <p:extLst>
      <p:ext uri="{BB962C8B-B14F-4D97-AF65-F5344CB8AC3E}">
        <p14:creationId xmlns:p14="http://schemas.microsoft.com/office/powerpoint/2010/main" val="1031545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今回の開発では、技術的な実装から設計、そしてユーザー体験に至るまで、多くの壁にぶつかり、それと同時に大きな学びを得ることができました。</a:t>
            </a:r>
          </a:p>
          <a:p>
            <a:r>
              <a:rPr lang="ja-JP" altLang="en-US" b="1" dirty="0"/>
              <a:t>まず苦戦したのは、</a:t>
            </a:r>
            <a:r>
              <a:rPr lang="en-US" altLang="ja-JP" b="1" dirty="0"/>
              <a:t>JWT</a:t>
            </a:r>
            <a:r>
              <a:rPr lang="ja-JP" altLang="en-US" b="1" dirty="0"/>
              <a:t>を用いた認証機能の実装です。</a:t>
            </a:r>
            <a:r>
              <a:rPr lang="ja-JP" altLang="en-US" dirty="0"/>
              <a:t> 開発を進める中で、暗号化やハッシュ化、データの圧縮といった基礎知識が自分の中でまだ曖昧だったことに気づかされました。仕組みを正しく理解し、安全に実装することの難しさを痛感しましたが、この試行錯誤を通じて、セキュリティに対する解像度がぐっと上がったと感じています。</a:t>
            </a:r>
          </a:p>
          <a:p>
            <a:r>
              <a:rPr lang="ja-JP" altLang="en-US" b="1" dirty="0"/>
              <a:t>次に悩んだのが、</a:t>
            </a:r>
            <a:r>
              <a:rPr lang="en-US" altLang="ja-JP" b="1" dirty="0"/>
              <a:t>DB</a:t>
            </a:r>
            <a:r>
              <a:rPr lang="ja-JP" altLang="en-US" b="1" dirty="0"/>
              <a:t>設計の拡張性についてです。</a:t>
            </a:r>
            <a:r>
              <a:rPr lang="ja-JP" altLang="en-US" dirty="0"/>
              <a:t> 「将来的に機能が増えた時、この設計で耐えられるだろうか？」と考えれば考えるほど、正解が見えずに迷いました。</a:t>
            </a:r>
            <a:r>
              <a:rPr lang="en-US" altLang="ja-JP" dirty="0"/>
              <a:t>DB</a:t>
            </a:r>
            <a:r>
              <a:rPr lang="ja-JP" altLang="en-US" dirty="0"/>
              <a:t>の柔軟性がアプリケーション全体の拡張性に直結することを学び、初期段階での設計がいかに重要であるかを改めて実感しました。</a:t>
            </a:r>
          </a:p>
          <a:p>
            <a:r>
              <a:rPr lang="ja-JP" altLang="en-US" b="1" dirty="0"/>
              <a:t>最後に、</a:t>
            </a:r>
            <a:r>
              <a:rPr lang="en-US" altLang="ja-JP" b="1" dirty="0"/>
              <a:t>UI/UX</a:t>
            </a:r>
            <a:r>
              <a:rPr lang="ja-JP" altLang="en-US" b="1" dirty="0"/>
              <a:t>デザインの難しさも大きな課題でした。</a:t>
            </a:r>
            <a:r>
              <a:rPr lang="ja-JP" altLang="en-US" dirty="0"/>
              <a:t> 自分なりに使い勝手を意識して工夫を凝らしてみたものの、完成したものを見ると、どこか物足りなかったり、見た目の洗練さが欠けていたりと、反省点が残りました。単に機能が動くだけでなく、ユーザーが直感的に「使いやすい」「心地よい」と感じるデザインを形にすることの奥深さを知りました。</a:t>
            </a:r>
          </a:p>
          <a:p>
            <a:r>
              <a:rPr lang="ja-JP" altLang="en-US" dirty="0"/>
              <a:t>今回の開発を通じて得たこれらの知見を活かし、次はより堅牢で、かつユーザーに寄り添ったプロダクトを目指していきたいと考えています。</a:t>
            </a:r>
          </a:p>
        </p:txBody>
      </p:sp>
      <p:sp>
        <p:nvSpPr>
          <p:cNvPr id="4" name="スライド番号プレースホルダー 3"/>
          <p:cNvSpPr>
            <a:spLocks noGrp="1"/>
          </p:cNvSpPr>
          <p:nvPr>
            <p:ph type="sldNum" sz="quarter" idx="5"/>
          </p:nvPr>
        </p:nvSpPr>
        <p:spPr/>
        <p:txBody>
          <a:bodyPr/>
          <a:lstStyle/>
          <a:p>
            <a:fld id="{E300401E-E7AE-4E7C-9FCE-35E8B987B59D}" type="slidenum">
              <a:rPr kumimoji="1" lang="ja-JP" altLang="en-US" smtClean="0"/>
              <a:t>6</a:t>
            </a:fld>
            <a:endParaRPr kumimoji="1" lang="ja-JP" altLang="en-US"/>
          </a:p>
        </p:txBody>
      </p:sp>
    </p:spTree>
    <p:extLst>
      <p:ext uri="{BB962C8B-B14F-4D97-AF65-F5344CB8AC3E}">
        <p14:creationId xmlns:p14="http://schemas.microsoft.com/office/powerpoint/2010/main" val="11226242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a:xfrm>
            <a:off x="2692397" y="5037663"/>
            <a:ext cx="5214635" cy="279400"/>
          </a:xfrm>
        </p:spPr>
        <p:txBody>
          <a:bodyPr/>
          <a:lstStyle/>
          <a:p>
            <a:endParaRPr kumimoji="1" lang="ja-JP" altLang="en-US"/>
          </a:p>
        </p:txBody>
      </p:sp>
      <p:sp>
        <p:nvSpPr>
          <p:cNvPr id="6" name="Slide Number Placeholder 5"/>
          <p:cNvSpPr>
            <a:spLocks noGrp="1"/>
          </p:cNvSpPr>
          <p:nvPr>
            <p:ph type="sldNum" sz="quarter" idx="12"/>
          </p:nvPr>
        </p:nvSpPr>
        <p:spPr>
          <a:xfrm>
            <a:off x="8956900" y="5037663"/>
            <a:ext cx="551167" cy="279400"/>
          </a:xfrm>
        </p:spPr>
        <p:txBody>
          <a:bodyPr/>
          <a:lstStyle/>
          <a:p>
            <a:fld id="{30CD61E4-18E1-42C2-B3BB-7297E9E1FB26}" type="slidenum">
              <a:rPr kumimoji="1" lang="ja-JP" altLang="en-US" smtClean="0"/>
              <a:t>‹#›</a:t>
            </a:fld>
            <a:endParaRPr kumimoji="1" lang="ja-JP"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5989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spTree>
    <p:extLst>
      <p:ext uri="{BB962C8B-B14F-4D97-AF65-F5344CB8AC3E}">
        <p14:creationId xmlns:p14="http://schemas.microsoft.com/office/powerpoint/2010/main" val="2885255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7375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spTree>
    <p:extLst>
      <p:ext uri="{BB962C8B-B14F-4D97-AF65-F5344CB8AC3E}">
        <p14:creationId xmlns:p14="http://schemas.microsoft.com/office/powerpoint/2010/main" val="3642539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9353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5653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spTree>
    <p:extLst>
      <p:ext uri="{BB962C8B-B14F-4D97-AF65-F5344CB8AC3E}">
        <p14:creationId xmlns:p14="http://schemas.microsoft.com/office/powerpoint/2010/main" val="3505252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8050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ja-JP" altLang="en-US"/>
              <a:t>マスター タイトルの書式設定</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spTree>
    <p:extLst>
      <p:ext uri="{BB962C8B-B14F-4D97-AF65-F5344CB8AC3E}">
        <p14:creationId xmlns:p14="http://schemas.microsoft.com/office/powerpoint/2010/main" val="1347499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spTree>
    <p:extLst>
      <p:ext uri="{BB962C8B-B14F-4D97-AF65-F5344CB8AC3E}">
        <p14:creationId xmlns:p14="http://schemas.microsoft.com/office/powerpoint/2010/main" val="3982276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4028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5612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spTree>
    <p:extLst>
      <p:ext uri="{BB962C8B-B14F-4D97-AF65-F5344CB8AC3E}">
        <p14:creationId xmlns:p14="http://schemas.microsoft.com/office/powerpoint/2010/main" val="718674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ja-JP" altLang="en-US"/>
              <a:t>マスター タイトルの書式設定</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20429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ja-JP" altLang="en-US"/>
              <a:t>マスター タイトルの書式設定</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01241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1159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0CD61E4-18E1-42C2-B3BB-7297E9E1FB26}" type="slidenum">
              <a:rPr kumimoji="1" lang="ja-JP" altLang="en-US" smtClean="0"/>
              <a:t>‹#›</a:t>
            </a:fld>
            <a:endParaRPr kumimoji="1" lang="ja-JP"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4166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B3504E4-D131-4992-BCFC-243A61643F24}" type="datetimeFigureOut">
              <a:rPr kumimoji="1" lang="ja-JP" altLang="en-US" smtClean="0"/>
              <a:t>2026/3/29</a:t>
            </a:fld>
            <a:endParaRPr kumimoji="1" lang="ja-JP"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kumimoji="1" lang="ja-JP"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CD61E4-18E1-42C2-B3BB-7297E9E1FB26}" type="slidenum">
              <a:rPr kumimoji="1" lang="ja-JP" altLang="en-US" smtClean="0"/>
              <a:t>‹#›</a:t>
            </a:fld>
            <a:endParaRPr kumimoji="1" lang="ja-JP" altLang="en-US"/>
          </a:p>
        </p:txBody>
      </p:sp>
    </p:spTree>
    <p:extLst>
      <p:ext uri="{BB962C8B-B14F-4D97-AF65-F5344CB8AC3E}">
        <p14:creationId xmlns:p14="http://schemas.microsoft.com/office/powerpoint/2010/main" val="13450303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kumimoji="1" sz="4400" kern="1200" cap="none">
          <a:ln w="3175" cmpd="sng">
            <a:noFill/>
          </a:ln>
          <a:solidFill>
            <a:schemeClr val="tx1">
              <a:lumMod val="85000"/>
              <a:lumOff val="15000"/>
            </a:schemeClr>
          </a:solidFill>
          <a:effectLst/>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kumimoji="1"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kumimoji="1"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kumimoji="1"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kumimoji="1"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8E8026-8E9F-CE3A-FBC4-72FBD4643632}"/>
              </a:ext>
            </a:extLst>
          </p:cNvPr>
          <p:cNvSpPr>
            <a:spLocks noGrp="1"/>
          </p:cNvSpPr>
          <p:nvPr>
            <p:ph type="ctrTitle"/>
          </p:nvPr>
        </p:nvSpPr>
        <p:spPr/>
        <p:txBody>
          <a:bodyPr/>
          <a:lstStyle/>
          <a:p>
            <a:r>
              <a:rPr kumimoji="1" lang="ja-JP" altLang="en-US" dirty="0"/>
              <a:t>勤怠管理システム</a:t>
            </a:r>
          </a:p>
        </p:txBody>
      </p:sp>
      <p:sp>
        <p:nvSpPr>
          <p:cNvPr id="3" name="字幕 2">
            <a:extLst>
              <a:ext uri="{FF2B5EF4-FFF2-40B4-BE49-F238E27FC236}">
                <a16:creationId xmlns:a16="http://schemas.microsoft.com/office/drawing/2014/main" id="{E46F653F-46FC-9E83-02F8-5C29FAFF523F}"/>
              </a:ext>
            </a:extLst>
          </p:cNvPr>
          <p:cNvSpPr>
            <a:spLocks noGrp="1"/>
          </p:cNvSpPr>
          <p:nvPr>
            <p:ph type="subTitle" idx="1"/>
          </p:nvPr>
        </p:nvSpPr>
        <p:spPr/>
        <p:txBody>
          <a:bodyPr/>
          <a:lstStyle/>
          <a:p>
            <a:r>
              <a:rPr kumimoji="1" lang="ja-JP" altLang="en-US" dirty="0"/>
              <a:t>井上 波人伊</a:t>
            </a:r>
          </a:p>
        </p:txBody>
      </p:sp>
    </p:spTree>
    <p:extLst>
      <p:ext uri="{BB962C8B-B14F-4D97-AF65-F5344CB8AC3E}">
        <p14:creationId xmlns:p14="http://schemas.microsoft.com/office/powerpoint/2010/main" val="1056596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24C38A-49BE-4D6A-D3FF-8CFBE28EDB59}"/>
              </a:ext>
            </a:extLst>
          </p:cNvPr>
          <p:cNvSpPr>
            <a:spLocks noGrp="1"/>
          </p:cNvSpPr>
          <p:nvPr>
            <p:ph type="title"/>
          </p:nvPr>
        </p:nvSpPr>
        <p:spPr/>
        <p:txBody>
          <a:bodyPr/>
          <a:lstStyle/>
          <a:p>
            <a:r>
              <a:rPr kumimoji="1" lang="ja-JP" altLang="en-US" dirty="0"/>
              <a:t>ターゲット</a:t>
            </a:r>
          </a:p>
        </p:txBody>
      </p:sp>
      <p:sp>
        <p:nvSpPr>
          <p:cNvPr id="3" name="コンテンツ プレースホルダー 2">
            <a:extLst>
              <a:ext uri="{FF2B5EF4-FFF2-40B4-BE49-F238E27FC236}">
                <a16:creationId xmlns:a16="http://schemas.microsoft.com/office/drawing/2014/main" id="{B48A0C44-D8F8-63C1-143C-6919D95E7834}"/>
              </a:ext>
            </a:extLst>
          </p:cNvPr>
          <p:cNvSpPr>
            <a:spLocks noGrp="1"/>
          </p:cNvSpPr>
          <p:nvPr>
            <p:ph idx="1"/>
          </p:nvPr>
        </p:nvSpPr>
        <p:spPr/>
        <p:txBody>
          <a:bodyPr/>
          <a:lstStyle/>
          <a:p>
            <a:pPr marL="0" indent="0">
              <a:buNone/>
            </a:pPr>
            <a:r>
              <a:rPr lang="ja-JP" altLang="en-US" b="1" dirty="0"/>
              <a:t>誰のため</a:t>
            </a:r>
            <a:r>
              <a:rPr lang="ja-JP" altLang="en-US" dirty="0"/>
              <a:t>：従業員・管理者・人事担当者など、勤怠と休暇運用に関わる社内利用者向け</a:t>
            </a:r>
          </a:p>
          <a:p>
            <a:pPr marL="0" indent="0">
              <a:buNone/>
            </a:pPr>
            <a:r>
              <a:rPr lang="ja-JP" altLang="en-US" b="1" dirty="0"/>
              <a:t>何のため</a:t>
            </a:r>
            <a:r>
              <a:rPr lang="ja-JP" altLang="en-US" dirty="0"/>
              <a:t>：出退勤記録、休暇申請・承認、勤怠確認を一元化し、運用の正確性と効率を高めるため</a:t>
            </a:r>
          </a:p>
          <a:p>
            <a:pPr marL="0" indent="0">
              <a:buNone/>
            </a:pPr>
            <a:r>
              <a:rPr lang="ja-JP" altLang="en-US" b="1" dirty="0"/>
              <a:t>どのようなシステムか</a:t>
            </a:r>
            <a:r>
              <a:rPr lang="ja-JP" altLang="en-US" dirty="0"/>
              <a:t>：フロント（</a:t>
            </a:r>
            <a:r>
              <a:rPr lang="en-US" altLang="ja-JP" sz="1800" dirty="0">
                <a:latin typeface="Meiryo UI" panose="020B0604030504040204" pitchFamily="50" charset="-128"/>
                <a:ea typeface="Meiryo UI" panose="020B0604030504040204" pitchFamily="50" charset="-128"/>
              </a:rPr>
              <a:t>React/TypeScript</a:t>
            </a:r>
            <a:r>
              <a:rPr lang="ja-JP" altLang="en-US" dirty="0"/>
              <a:t>）とバックエンド（</a:t>
            </a:r>
            <a:r>
              <a:rPr lang="en-US" altLang="ja-JP" sz="1800" dirty="0">
                <a:latin typeface="Meiryo UI" panose="020B0604030504040204" pitchFamily="50" charset="-128"/>
                <a:ea typeface="Meiryo UI" panose="020B0604030504040204" pitchFamily="50" charset="-128"/>
              </a:rPr>
              <a:t>Spring Boot/</a:t>
            </a:r>
            <a:r>
              <a:rPr lang="en-US" altLang="ja-JP" sz="1800" dirty="0" err="1">
                <a:latin typeface="Meiryo UI" panose="020B0604030504040204" pitchFamily="50" charset="-128"/>
                <a:ea typeface="Meiryo UI" panose="020B0604030504040204" pitchFamily="50" charset="-128"/>
              </a:rPr>
              <a:t>MyBatis</a:t>
            </a:r>
            <a:r>
              <a:rPr lang="en-US" altLang="ja-JP" sz="1800" dirty="0">
                <a:latin typeface="Meiryo UI" panose="020B0604030504040204" pitchFamily="50" charset="-128"/>
                <a:ea typeface="Meiryo UI" panose="020B0604030504040204" pitchFamily="50" charset="-128"/>
              </a:rPr>
              <a:t>/JWT</a:t>
            </a:r>
            <a:r>
              <a:rPr lang="ja-JP" altLang="en-US" dirty="0"/>
              <a:t>）で構成された、</a:t>
            </a:r>
            <a:r>
              <a:rPr lang="ja-JP" altLang="en-US" b="1" u="sng" dirty="0"/>
              <a:t>認証付き</a:t>
            </a:r>
            <a:r>
              <a:rPr lang="ja-JP" altLang="en-US" dirty="0"/>
              <a:t>の勤怠・休暇管理</a:t>
            </a:r>
            <a:r>
              <a:rPr lang="en-US" altLang="ja-JP" sz="1800" dirty="0">
                <a:latin typeface="Meiryo UI" panose="020B0604030504040204" pitchFamily="50" charset="-128"/>
                <a:ea typeface="Meiryo UI" panose="020B0604030504040204" pitchFamily="50" charset="-128"/>
              </a:rPr>
              <a:t>Web</a:t>
            </a:r>
            <a:r>
              <a:rPr lang="ja-JP" altLang="en-US" dirty="0"/>
              <a:t>システム</a:t>
            </a:r>
          </a:p>
          <a:p>
            <a:pPr marL="0" indent="0">
              <a:buNone/>
            </a:pPr>
            <a:endParaRPr lang="ja-JP" altLang="en-US" dirty="0"/>
          </a:p>
          <a:p>
            <a:pPr marL="0" indent="0">
              <a:buNone/>
            </a:pPr>
            <a:endParaRPr kumimoji="1" lang="ja-JP" altLang="en-US" dirty="0"/>
          </a:p>
        </p:txBody>
      </p:sp>
    </p:spTree>
    <p:extLst>
      <p:ext uri="{BB962C8B-B14F-4D97-AF65-F5344CB8AC3E}">
        <p14:creationId xmlns:p14="http://schemas.microsoft.com/office/powerpoint/2010/main" val="1166316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B803C4-388C-C3F2-53ED-5444F21B1EAA}"/>
              </a:ext>
            </a:extLst>
          </p:cNvPr>
          <p:cNvSpPr>
            <a:spLocks noGrp="1"/>
          </p:cNvSpPr>
          <p:nvPr>
            <p:ph type="title"/>
          </p:nvPr>
        </p:nvSpPr>
        <p:spPr/>
        <p:txBody>
          <a:bodyPr/>
          <a:lstStyle/>
          <a:p>
            <a:r>
              <a:rPr kumimoji="1" lang="ja-JP" altLang="en-US" dirty="0"/>
              <a:t>システム説明</a:t>
            </a:r>
          </a:p>
        </p:txBody>
      </p:sp>
      <p:sp>
        <p:nvSpPr>
          <p:cNvPr id="3" name="コンテンツ プレースホルダー 2">
            <a:extLst>
              <a:ext uri="{FF2B5EF4-FFF2-40B4-BE49-F238E27FC236}">
                <a16:creationId xmlns:a16="http://schemas.microsoft.com/office/drawing/2014/main" id="{2B4775B5-1B5B-2AAD-ACE3-3E012306B695}"/>
              </a:ext>
            </a:extLst>
          </p:cNvPr>
          <p:cNvSpPr>
            <a:spLocks noGrp="1"/>
          </p:cNvSpPr>
          <p:nvPr>
            <p:ph idx="1"/>
          </p:nvPr>
        </p:nvSpPr>
        <p:spPr/>
        <p:txBody>
          <a:bodyPr/>
          <a:lstStyle/>
          <a:p>
            <a:r>
              <a:rPr kumimoji="1" lang="ja-JP" altLang="en-US" dirty="0"/>
              <a:t>認証</a:t>
            </a:r>
            <a:endParaRPr kumimoji="1" lang="en-US" altLang="ja-JP" dirty="0"/>
          </a:p>
          <a:p>
            <a:r>
              <a:rPr kumimoji="1" lang="ja-JP" altLang="en-US" dirty="0"/>
              <a:t>細かな権限設定</a:t>
            </a:r>
            <a:endParaRPr kumimoji="1" lang="en-US" altLang="ja-JP" dirty="0"/>
          </a:p>
          <a:p>
            <a:r>
              <a:rPr lang="ja-JP" altLang="en-US" dirty="0"/>
              <a:t>勤怠記録</a:t>
            </a:r>
            <a:endParaRPr lang="en-US" altLang="ja-JP" dirty="0"/>
          </a:p>
          <a:p>
            <a:r>
              <a:rPr kumimoji="1" lang="ja-JP" altLang="en-US" dirty="0"/>
              <a:t>休暇申請の管理</a:t>
            </a:r>
            <a:endParaRPr kumimoji="1" lang="en-US" altLang="ja-JP" dirty="0"/>
          </a:p>
          <a:p>
            <a:endParaRPr kumimoji="1" lang="ja-JP" altLang="en-US" dirty="0"/>
          </a:p>
        </p:txBody>
      </p:sp>
    </p:spTree>
    <p:extLst>
      <p:ext uri="{BB962C8B-B14F-4D97-AF65-F5344CB8AC3E}">
        <p14:creationId xmlns:p14="http://schemas.microsoft.com/office/powerpoint/2010/main" val="1969131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CCC59C-10F6-6063-861A-3FEAEE7D607F}"/>
              </a:ext>
            </a:extLst>
          </p:cNvPr>
          <p:cNvSpPr>
            <a:spLocks noGrp="1"/>
          </p:cNvSpPr>
          <p:nvPr>
            <p:ph type="title"/>
          </p:nvPr>
        </p:nvSpPr>
        <p:spPr/>
        <p:txBody>
          <a:bodyPr/>
          <a:lstStyle/>
          <a:p>
            <a:r>
              <a:rPr kumimoji="1" lang="ja-JP" altLang="en-US" dirty="0"/>
              <a:t>システムの売り</a:t>
            </a:r>
          </a:p>
        </p:txBody>
      </p:sp>
      <p:sp>
        <p:nvSpPr>
          <p:cNvPr id="3" name="コンテンツ プレースホルダー 2">
            <a:extLst>
              <a:ext uri="{FF2B5EF4-FFF2-40B4-BE49-F238E27FC236}">
                <a16:creationId xmlns:a16="http://schemas.microsoft.com/office/drawing/2014/main" id="{241D97AC-79B5-97FE-71E5-E681F53CC106}"/>
              </a:ext>
            </a:extLst>
          </p:cNvPr>
          <p:cNvSpPr>
            <a:spLocks noGrp="1"/>
          </p:cNvSpPr>
          <p:nvPr>
            <p:ph idx="1"/>
          </p:nvPr>
        </p:nvSpPr>
        <p:spPr/>
        <p:txBody>
          <a:bodyPr/>
          <a:lstStyle/>
          <a:p>
            <a:r>
              <a:rPr lang="ja-JP" altLang="en-US" dirty="0"/>
              <a:t>勤怠と休暇を</a:t>
            </a:r>
            <a:r>
              <a:rPr lang="en-US" altLang="ja-JP" dirty="0"/>
              <a:t>1</a:t>
            </a:r>
            <a:r>
              <a:rPr lang="ja-JP" altLang="en-US" dirty="0"/>
              <a:t>つのシステムでまとめて扱える</a:t>
            </a:r>
          </a:p>
          <a:p>
            <a:r>
              <a:rPr lang="ja-JP" altLang="en-US" dirty="0"/>
              <a:t>認証付きで、利用者ごとに必要な機能を出し分けられる</a:t>
            </a:r>
          </a:p>
          <a:p>
            <a:r>
              <a:rPr lang="ja-JP" altLang="en-US" dirty="0"/>
              <a:t>申請から承認までの流れをつなげやすい</a:t>
            </a:r>
          </a:p>
          <a:p>
            <a:r>
              <a:rPr lang="ja-JP" altLang="en-US" dirty="0"/>
              <a:t>将来的な機能追加に広げやすい土台がある</a:t>
            </a:r>
          </a:p>
        </p:txBody>
      </p:sp>
    </p:spTree>
    <p:extLst>
      <p:ext uri="{BB962C8B-B14F-4D97-AF65-F5344CB8AC3E}">
        <p14:creationId xmlns:p14="http://schemas.microsoft.com/office/powerpoint/2010/main" val="193569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E034A4-5E60-93B4-330C-F12B24406844}"/>
              </a:ext>
            </a:extLst>
          </p:cNvPr>
          <p:cNvSpPr>
            <a:spLocks noGrp="1"/>
          </p:cNvSpPr>
          <p:nvPr>
            <p:ph type="title"/>
          </p:nvPr>
        </p:nvSpPr>
        <p:spPr/>
        <p:txBody>
          <a:bodyPr/>
          <a:lstStyle/>
          <a:p>
            <a:r>
              <a:rPr kumimoji="1" lang="ja-JP" altLang="en-US" dirty="0"/>
              <a:t>不足機能・今後の課題</a:t>
            </a:r>
          </a:p>
        </p:txBody>
      </p:sp>
      <p:sp>
        <p:nvSpPr>
          <p:cNvPr id="3" name="コンテンツ プレースホルダー 2">
            <a:extLst>
              <a:ext uri="{FF2B5EF4-FFF2-40B4-BE49-F238E27FC236}">
                <a16:creationId xmlns:a16="http://schemas.microsoft.com/office/drawing/2014/main" id="{B18307E5-754D-03AF-E4B5-D3722A6D4EDC}"/>
              </a:ext>
            </a:extLst>
          </p:cNvPr>
          <p:cNvSpPr>
            <a:spLocks noGrp="1"/>
          </p:cNvSpPr>
          <p:nvPr>
            <p:ph idx="1"/>
          </p:nvPr>
        </p:nvSpPr>
        <p:spPr>
          <a:xfrm>
            <a:off x="1295401" y="3516284"/>
            <a:ext cx="4407130" cy="2359584"/>
          </a:xfrm>
        </p:spPr>
        <p:txBody>
          <a:bodyPr/>
          <a:lstStyle/>
          <a:p>
            <a:r>
              <a:rPr lang="ja-JP" altLang="en-US" dirty="0"/>
              <a:t>休暇残日数</a:t>
            </a:r>
          </a:p>
          <a:p>
            <a:r>
              <a:rPr lang="ja-JP" altLang="en-US" dirty="0"/>
              <a:t>カレンダー表示</a:t>
            </a:r>
          </a:p>
          <a:p>
            <a:r>
              <a:rPr lang="ja-JP" altLang="en-US" dirty="0"/>
              <a:t>ユーザー管理画面</a:t>
            </a:r>
            <a:endParaRPr lang="en-US" altLang="ja-JP" dirty="0"/>
          </a:p>
          <a:p>
            <a:r>
              <a:rPr lang="ja-JP" altLang="en-US" dirty="0"/>
              <a:t>勤務区分</a:t>
            </a:r>
            <a:endParaRPr kumimoji="1" lang="ja-JP" altLang="en-US" dirty="0"/>
          </a:p>
        </p:txBody>
      </p:sp>
      <p:sp>
        <p:nvSpPr>
          <p:cNvPr id="4" name="コンテンツ プレースホルダー 2">
            <a:extLst>
              <a:ext uri="{FF2B5EF4-FFF2-40B4-BE49-F238E27FC236}">
                <a16:creationId xmlns:a16="http://schemas.microsoft.com/office/drawing/2014/main" id="{5E9F7409-06E3-76BD-1058-78811C0A5466}"/>
              </a:ext>
            </a:extLst>
          </p:cNvPr>
          <p:cNvSpPr txBox="1">
            <a:spLocks/>
          </p:cNvSpPr>
          <p:nvPr/>
        </p:nvSpPr>
        <p:spPr>
          <a:xfrm>
            <a:off x="6302434" y="3516284"/>
            <a:ext cx="4407130" cy="2065713"/>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kumimoji="1"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kumimoji="1"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kumimoji="1"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kumimoji="1"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kumimoji="1" sz="1400" kern="1200" cap="none">
                <a:solidFill>
                  <a:schemeClr val="tx1">
                    <a:lumMod val="85000"/>
                    <a:lumOff val="15000"/>
                  </a:schemeClr>
                </a:solidFill>
                <a:effectLst/>
                <a:latin typeface="+mn-lt"/>
                <a:ea typeface="+mn-ea"/>
                <a:cs typeface="+mn-cs"/>
              </a:defRPr>
            </a:lvl9pPr>
          </a:lstStyle>
          <a:p>
            <a:r>
              <a:rPr lang="ja-JP" altLang="en-US" dirty="0"/>
              <a:t>テストが甘い</a:t>
            </a:r>
            <a:endParaRPr lang="en-US" altLang="ja-JP" dirty="0"/>
          </a:p>
          <a:p>
            <a:r>
              <a:rPr lang="ja-JP" altLang="en-US" dirty="0"/>
              <a:t>ハードコーディングがある</a:t>
            </a:r>
            <a:endParaRPr lang="en-US" altLang="ja-JP" dirty="0"/>
          </a:p>
          <a:p>
            <a:r>
              <a:rPr lang="ja-JP" altLang="en-US" dirty="0"/>
              <a:t>認証周りのの知識不足</a:t>
            </a:r>
            <a:endParaRPr lang="en-US" altLang="ja-JP" dirty="0"/>
          </a:p>
          <a:p>
            <a:pPr marL="0" indent="0">
              <a:buNone/>
            </a:pPr>
            <a:endParaRPr lang="ja-JP" altLang="en-US" dirty="0"/>
          </a:p>
        </p:txBody>
      </p:sp>
      <p:sp>
        <p:nvSpPr>
          <p:cNvPr id="5" name="テキスト ボックス 4">
            <a:extLst>
              <a:ext uri="{FF2B5EF4-FFF2-40B4-BE49-F238E27FC236}">
                <a16:creationId xmlns:a16="http://schemas.microsoft.com/office/drawing/2014/main" id="{1ED8A497-75E5-86AD-5B1F-8ACB71F23E23}"/>
              </a:ext>
            </a:extLst>
          </p:cNvPr>
          <p:cNvSpPr txBox="1"/>
          <p:nvPr/>
        </p:nvSpPr>
        <p:spPr>
          <a:xfrm>
            <a:off x="1295401" y="2851267"/>
            <a:ext cx="2644832" cy="584775"/>
          </a:xfrm>
          <a:prstGeom prst="rect">
            <a:avLst/>
          </a:prstGeom>
          <a:noFill/>
        </p:spPr>
        <p:txBody>
          <a:bodyPr wrap="square" rtlCol="0">
            <a:spAutoFit/>
          </a:bodyPr>
          <a:lstStyle/>
          <a:p>
            <a:r>
              <a:rPr kumimoji="1" lang="ja-JP" altLang="en-US" sz="3200" b="1" dirty="0"/>
              <a:t>不足機能</a:t>
            </a:r>
          </a:p>
        </p:txBody>
      </p:sp>
      <p:sp>
        <p:nvSpPr>
          <p:cNvPr id="6" name="テキスト ボックス 5">
            <a:extLst>
              <a:ext uri="{FF2B5EF4-FFF2-40B4-BE49-F238E27FC236}">
                <a16:creationId xmlns:a16="http://schemas.microsoft.com/office/drawing/2014/main" id="{2F9F6925-A899-BA88-17E5-C317935EE228}"/>
              </a:ext>
            </a:extLst>
          </p:cNvPr>
          <p:cNvSpPr txBox="1"/>
          <p:nvPr/>
        </p:nvSpPr>
        <p:spPr>
          <a:xfrm>
            <a:off x="6302434" y="2851267"/>
            <a:ext cx="2644832" cy="584775"/>
          </a:xfrm>
          <a:prstGeom prst="rect">
            <a:avLst/>
          </a:prstGeom>
          <a:noFill/>
        </p:spPr>
        <p:txBody>
          <a:bodyPr wrap="square" rtlCol="0">
            <a:spAutoFit/>
          </a:bodyPr>
          <a:lstStyle/>
          <a:p>
            <a:r>
              <a:rPr kumimoji="1" lang="ja-JP" altLang="en-US" sz="3200" b="1" dirty="0"/>
              <a:t>今後の課題</a:t>
            </a:r>
          </a:p>
        </p:txBody>
      </p:sp>
    </p:spTree>
    <p:extLst>
      <p:ext uri="{BB962C8B-B14F-4D97-AF65-F5344CB8AC3E}">
        <p14:creationId xmlns:p14="http://schemas.microsoft.com/office/powerpoint/2010/main" val="548005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7AB828-D4D8-5337-7854-537969BB8BFA}"/>
              </a:ext>
            </a:extLst>
          </p:cNvPr>
          <p:cNvSpPr>
            <a:spLocks noGrp="1"/>
          </p:cNvSpPr>
          <p:nvPr>
            <p:ph type="title"/>
          </p:nvPr>
        </p:nvSpPr>
        <p:spPr/>
        <p:txBody>
          <a:bodyPr/>
          <a:lstStyle/>
          <a:p>
            <a:r>
              <a:rPr lang="ja-JP" altLang="en-US" dirty="0"/>
              <a:t>今回の開発を通じて</a:t>
            </a:r>
            <a:endParaRPr kumimoji="1" lang="ja-JP" altLang="en-US" dirty="0"/>
          </a:p>
        </p:txBody>
      </p:sp>
      <p:sp>
        <p:nvSpPr>
          <p:cNvPr id="3" name="コンテンツ プレースホルダー 2">
            <a:extLst>
              <a:ext uri="{FF2B5EF4-FFF2-40B4-BE49-F238E27FC236}">
                <a16:creationId xmlns:a16="http://schemas.microsoft.com/office/drawing/2014/main" id="{818F3715-F9C3-9708-8DFB-9AB6D898264C}"/>
              </a:ext>
            </a:extLst>
          </p:cNvPr>
          <p:cNvSpPr>
            <a:spLocks noGrp="1"/>
          </p:cNvSpPr>
          <p:nvPr>
            <p:ph idx="1"/>
          </p:nvPr>
        </p:nvSpPr>
        <p:spPr/>
        <p:txBody>
          <a:bodyPr/>
          <a:lstStyle/>
          <a:p>
            <a:r>
              <a:rPr kumimoji="1" lang="ja-JP" altLang="en-US" dirty="0"/>
              <a:t>認証の大変さ</a:t>
            </a:r>
            <a:endParaRPr kumimoji="1" lang="en-US" altLang="ja-JP" dirty="0"/>
          </a:p>
          <a:p>
            <a:r>
              <a:rPr lang="en-US" altLang="ja-JP" dirty="0"/>
              <a:t>DB</a:t>
            </a:r>
            <a:r>
              <a:rPr lang="ja-JP" altLang="en-US" dirty="0"/>
              <a:t>設計の拡張性をどこまで持たせるか</a:t>
            </a:r>
            <a:endParaRPr lang="en-US" altLang="ja-JP" dirty="0"/>
          </a:p>
          <a:p>
            <a:r>
              <a:rPr lang="en-US" altLang="ja-JP" dirty="0"/>
              <a:t>UI/UX</a:t>
            </a:r>
            <a:r>
              <a:rPr lang="ja-JP" altLang="en-US" dirty="0"/>
              <a:t>の難しさ</a:t>
            </a:r>
            <a:endParaRPr lang="en-US" altLang="ja-JP" dirty="0"/>
          </a:p>
        </p:txBody>
      </p:sp>
    </p:spTree>
    <p:extLst>
      <p:ext uri="{BB962C8B-B14F-4D97-AF65-F5344CB8AC3E}">
        <p14:creationId xmlns:p14="http://schemas.microsoft.com/office/powerpoint/2010/main" val="397634712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オーガニック">
  <a:themeElements>
    <a:clrScheme name="オーガニック">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オーガニック">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オーガニック">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82</TotalTime>
  <Words>692</Words>
  <Application>Microsoft Office PowerPoint</Application>
  <PresentationFormat>ワイド画面</PresentationFormat>
  <Paragraphs>40</Paragraphs>
  <Slides>6</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Meiryo UI</vt:lpstr>
      <vt:lpstr>游ゴシック</vt:lpstr>
      <vt:lpstr>Arial</vt:lpstr>
      <vt:lpstr>Garamond</vt:lpstr>
      <vt:lpstr>オーガニック</vt:lpstr>
      <vt:lpstr>勤怠管理システム</vt:lpstr>
      <vt:lpstr>ターゲット</vt:lpstr>
      <vt:lpstr>システム説明</vt:lpstr>
      <vt:lpstr>システムの売り</vt:lpstr>
      <vt:lpstr>不足機能・今後の課題</vt:lpstr>
      <vt:lpstr>今回の開発を通じて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Harry inoue</dc:creator>
  <cp:lastModifiedBy>Harry inoue</cp:lastModifiedBy>
  <cp:revision>1</cp:revision>
  <dcterms:created xsi:type="dcterms:W3CDTF">2026-03-28T15:47:44Z</dcterms:created>
  <dcterms:modified xsi:type="dcterms:W3CDTF">2026-03-28T17:10:33Z</dcterms:modified>
</cp:coreProperties>
</file>